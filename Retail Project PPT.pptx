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Dynapuff Condensed" charset="1" panose="00000000000000000000"/>
      <p:regular r:id="rId18"/>
    </p:embeddedFont>
    <p:embeddedFont>
      <p:font typeface="Canva Sans" charset="1" panose="020B0503030501040103"/>
      <p:regular r:id="rId19"/>
    </p:embeddedFont>
    <p:embeddedFont>
      <p:font typeface="Dynapuff Condensed Bold" charset="1" panose="00000000000000000000"/>
      <p:regular r:id="rId20"/>
    </p:embeddedFont>
    <p:embeddedFont>
      <p:font typeface="Canva Sans Bold" charset="1" panose="020B0803030501040103"/>
      <p:regular r:id="rId21"/>
    </p:embeddedFont>
    <p:embeddedFont>
      <p:font typeface="Open Sans Bold" charset="1" panose="00000000000000000000"/>
      <p:regular r:id="rId22"/>
    </p:embeddedFont>
    <p:embeddedFont>
      <p:font typeface="Open Sauce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64261" y="6677503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0" y="0"/>
                </a:moveTo>
                <a:lnTo>
                  <a:pt x="6103109" y="0"/>
                </a:lnTo>
                <a:lnTo>
                  <a:pt x="61031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184892" y="-1028700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54823" y="-455023"/>
            <a:ext cx="5040401" cy="4114800"/>
          </a:xfrm>
          <a:custGeom>
            <a:avLst/>
            <a:gdLst/>
            <a:ahLst/>
            <a:cxnLst/>
            <a:rect r="r" b="b" t="t" l="l"/>
            <a:pathLst>
              <a:path h="4114800" w="5040401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72605" y="6043612"/>
            <a:ext cx="2369825" cy="2300885"/>
          </a:xfrm>
          <a:custGeom>
            <a:avLst/>
            <a:gdLst/>
            <a:ahLst/>
            <a:cxnLst/>
            <a:rect r="r" b="b" t="t" l="l"/>
            <a:pathLst>
              <a:path h="2300885" w="236982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87294" y="1592852"/>
            <a:ext cx="12849152" cy="1688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11"/>
              </a:lnSpc>
              <a:spcBef>
                <a:spcPct val="0"/>
              </a:spcBef>
            </a:pPr>
            <a:r>
              <a:rPr lang="en-US" sz="5509" spc="165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PRODUCT AND CATEGORY ANALYSIS FOR RETAIL DATA PROJECT</a:t>
            </a: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4418111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736228" y="3539988"/>
            <a:ext cx="7926327" cy="3654067"/>
          </a:xfrm>
          <a:custGeom>
            <a:avLst/>
            <a:gdLst/>
            <a:ahLst/>
            <a:cxnLst/>
            <a:rect r="r" b="b" t="t" l="l"/>
            <a:pathLst>
              <a:path h="3654067" w="7926327">
                <a:moveTo>
                  <a:pt x="0" y="0"/>
                </a:moveTo>
                <a:lnTo>
                  <a:pt x="7926326" y="0"/>
                </a:lnTo>
                <a:lnTo>
                  <a:pt x="7926326" y="3654067"/>
                </a:lnTo>
                <a:lnTo>
                  <a:pt x="0" y="36540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28488" r="0" b="-16254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736228" y="7692483"/>
            <a:ext cx="8261144" cy="921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82"/>
              </a:lnSpc>
              <a:spcBef>
                <a:spcPct val="0"/>
              </a:spcBef>
            </a:pPr>
            <a:r>
              <a:rPr lang="en-US" sz="5054" spc="151">
                <a:solidFill>
                  <a:srgbClr val="3F3E3A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Presented by: Niharika Verma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45079" y="8871492"/>
            <a:ext cx="3508623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60"/>
              </a:lnSpc>
              <a:spcBef>
                <a:spcPct val="0"/>
              </a:spcBef>
            </a:pPr>
            <a:r>
              <a:rPr lang="en-US" sz="43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DATE: 06-08-2025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14800" y="510664"/>
            <a:ext cx="8934676" cy="1102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26"/>
              </a:lnSpc>
            </a:pPr>
            <a:r>
              <a:rPr lang="en-US" sz="7681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INT</a:t>
            </a:r>
            <a:r>
              <a:rPr lang="en-US" sz="7681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RODUCTION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425139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2400300"/>
            <a:ext cx="18288000" cy="582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5"/>
              </a:lnSpc>
              <a:spcBef>
                <a:spcPct val="0"/>
              </a:spcBef>
            </a:pPr>
            <a:r>
              <a:rPr lang="en-US" sz="3546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THIS PROJECT F</a:t>
            </a:r>
            <a:r>
              <a:rPr lang="en-US" sz="3546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OCUSES ON ANALYZING A LARGE RETAIL PRODUCT CATALOG USING SQL AND POWER BI TO EXTRACT INSIGHTS ON PRODUCT PRICING, STOCK LEVELS, CUSTOMER REVIEWS, SUPPLIER PERFORMANCE, AND RETURN TRENDS.</a:t>
            </a:r>
          </a:p>
          <a:p>
            <a:pPr algn="ctr">
              <a:lnSpc>
                <a:spcPts val="4255"/>
              </a:lnSpc>
              <a:spcBef>
                <a:spcPct val="0"/>
              </a:spcBef>
            </a:pPr>
            <a:r>
              <a:rPr lang="en-US" sz="3546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BY CONVERTING RAW DATA INTO INTERACTIVE VISUALS, THE DASHBOARD HELPS IDENTIFY:</a:t>
            </a:r>
          </a:p>
          <a:p>
            <a:pPr algn="l" marL="765682" indent="-382841" lvl="1">
              <a:lnSpc>
                <a:spcPts val="4255"/>
              </a:lnSpc>
              <a:buFont typeface="Arial"/>
              <a:buChar char="•"/>
            </a:pPr>
            <a:r>
              <a:rPr lang="en-US" sz="3546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HIGH/LOW-PERFORMING PRODUCTS</a:t>
            </a:r>
          </a:p>
          <a:p>
            <a:pPr algn="l" marL="765682" indent="-382841" lvl="1">
              <a:lnSpc>
                <a:spcPts val="4255"/>
              </a:lnSpc>
              <a:buFont typeface="Arial"/>
              <a:buChar char="•"/>
            </a:pPr>
            <a:r>
              <a:rPr lang="en-US" sz="3546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LOW-STOCK AND OVERSTOCKED ITEMS</a:t>
            </a:r>
          </a:p>
          <a:p>
            <a:pPr algn="l" marL="765682" indent="-382841" lvl="1">
              <a:lnSpc>
                <a:spcPts val="4255"/>
              </a:lnSpc>
              <a:buFont typeface="Arial"/>
              <a:buChar char="•"/>
            </a:pPr>
            <a:r>
              <a:rPr lang="en-US" sz="3546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RETURN-PRONE PRODUCTS AND WEAK SUPPLIERS</a:t>
            </a:r>
          </a:p>
          <a:p>
            <a:pPr algn="l" marL="765682" indent="-382841" lvl="1">
              <a:lnSpc>
                <a:spcPts val="4255"/>
              </a:lnSpc>
              <a:buFont typeface="Arial"/>
              <a:buChar char="•"/>
            </a:pPr>
            <a:r>
              <a:rPr lang="en-US" sz="3546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TRENDS IN CUSTOMER SATISFACTION VIA REVIEWS</a:t>
            </a:r>
          </a:p>
          <a:p>
            <a:pPr algn="ctr">
              <a:lnSpc>
                <a:spcPts val="4015"/>
              </a:lnSpc>
              <a:spcBef>
                <a:spcPct val="0"/>
              </a:spcBef>
            </a:pPr>
            <a:r>
              <a:rPr lang="en-US" sz="3346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THIS SOLUTION EMPOWERS THE BUSINESS TO OPTIMIZE INVENTORY, IMPROVE PRODUCT QUALITY, AND ENHANCE CUSTOMER SATISFACTION.</a:t>
            </a:r>
          </a:p>
          <a:p>
            <a:pPr algn="ctr">
              <a:lnSpc>
                <a:spcPts val="4375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2337292" y="-876300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26735" y="6747939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0130" y="6114049"/>
            <a:ext cx="2369825" cy="2300885"/>
          </a:xfrm>
          <a:custGeom>
            <a:avLst/>
            <a:gdLst/>
            <a:ahLst/>
            <a:cxnLst/>
            <a:rect r="r" b="b" t="t" l="l"/>
            <a:pathLst>
              <a:path h="2300885" w="236982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088210" y="738769"/>
            <a:ext cx="14111580" cy="8809462"/>
          </a:xfrm>
          <a:custGeom>
            <a:avLst/>
            <a:gdLst/>
            <a:ahLst/>
            <a:cxnLst/>
            <a:rect r="r" b="b" t="t" l="l"/>
            <a:pathLst>
              <a:path h="8809462" w="14111580">
                <a:moveTo>
                  <a:pt x="0" y="0"/>
                </a:moveTo>
                <a:lnTo>
                  <a:pt x="14111580" y="0"/>
                </a:lnTo>
                <a:lnTo>
                  <a:pt x="14111580" y="8809462"/>
                </a:lnTo>
                <a:lnTo>
                  <a:pt x="0" y="8809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71171" y="4299338"/>
            <a:ext cx="10254058" cy="4897203"/>
          </a:xfrm>
          <a:custGeom>
            <a:avLst/>
            <a:gdLst/>
            <a:ahLst/>
            <a:cxnLst/>
            <a:rect r="r" b="b" t="t" l="l"/>
            <a:pathLst>
              <a:path h="4897203" w="10254058">
                <a:moveTo>
                  <a:pt x="0" y="0"/>
                </a:moveTo>
                <a:lnTo>
                  <a:pt x="10254058" y="0"/>
                </a:lnTo>
                <a:lnTo>
                  <a:pt x="10254058" y="4897203"/>
                </a:lnTo>
                <a:lnTo>
                  <a:pt x="0" y="48972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5552" r="-23160" b="-19504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28762" y="677968"/>
            <a:ext cx="10594610" cy="930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52"/>
              </a:lnSpc>
            </a:pPr>
            <a:r>
              <a:rPr lang="en-US" sz="7646" spc="76" u="sng">
                <a:solidFill>
                  <a:srgbClr val="4A1B8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SQL QUERY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5282" y="2191299"/>
            <a:ext cx="15401568" cy="1597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131441" indent="-565721" lvl="1">
              <a:lnSpc>
                <a:spcPts val="6288"/>
              </a:lnSpc>
              <a:spcBef>
                <a:spcPct val="0"/>
              </a:spcBef>
              <a:buAutoNum type="arabicPeriod" startAt="1"/>
            </a:pPr>
            <a:r>
              <a:rPr lang="en-US" sz="524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 IDENTIFIES PR</a:t>
            </a:r>
            <a:r>
              <a:rPr lang="en-US" sz="524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ODUCTS WITH PRICES HIGHER THAN THE AVERAGE PRICE WITHIN THEIR CATEGORY.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40586" y="3326333"/>
            <a:ext cx="9512327" cy="5691734"/>
          </a:xfrm>
          <a:custGeom>
            <a:avLst/>
            <a:gdLst/>
            <a:ahLst/>
            <a:cxnLst/>
            <a:rect r="r" b="b" t="t" l="l"/>
            <a:pathLst>
              <a:path h="5691734" w="9512327">
                <a:moveTo>
                  <a:pt x="0" y="0"/>
                </a:moveTo>
                <a:lnTo>
                  <a:pt x="9512328" y="0"/>
                </a:lnTo>
                <a:lnTo>
                  <a:pt x="9512328" y="5691734"/>
                </a:lnTo>
                <a:lnTo>
                  <a:pt x="0" y="5691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9567" r="-45764" b="-1739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43050" y="1109847"/>
            <a:ext cx="15201900" cy="1828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16"/>
              </a:lnSpc>
              <a:spcBef>
                <a:spcPct val="0"/>
              </a:spcBef>
            </a:pPr>
            <a:r>
              <a:rPr lang="en-US" sz="524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2.   FINDING CATEGORIES WITH HIGHEST AVE</a:t>
            </a:r>
            <a:r>
              <a:rPr lang="en-US" sz="5240" strike="noStrike" u="none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RAGE RATING ACROSS PRODUCTS.</a:t>
            </a:r>
          </a:p>
          <a:p>
            <a:pPr algn="ctr" marL="0" indent="0" lvl="0">
              <a:lnSpc>
                <a:spcPts val="4716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63812" y="1758376"/>
            <a:ext cx="13560376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05"/>
              </a:lnSpc>
              <a:spcBef>
                <a:spcPct val="0"/>
              </a:spcBef>
            </a:pPr>
            <a:r>
              <a:rPr lang="en-US" sz="4921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3.   FIND THE MOST REVIEWED P</a:t>
            </a:r>
            <a:r>
              <a:rPr lang="en-US" sz="4921" u="none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RODUCT IN EACH WAREHOUSE</a:t>
            </a:r>
          </a:p>
          <a:p>
            <a:pPr algn="ctr" marL="0" indent="0" lvl="0">
              <a:lnSpc>
                <a:spcPts val="5086"/>
              </a:lnSpc>
              <a:spcBef>
                <a:spcPct val="0"/>
              </a:spcBef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5400000">
            <a:off x="0" y="7404201"/>
            <a:ext cx="2882799" cy="2882799"/>
          </a:xfrm>
          <a:custGeom>
            <a:avLst/>
            <a:gdLst/>
            <a:ahLst/>
            <a:cxnLst/>
            <a:rect r="r" b="b" t="t" l="l"/>
            <a:pathLst>
              <a:path h="2882799" w="2882799">
                <a:moveTo>
                  <a:pt x="0" y="2882799"/>
                </a:moveTo>
                <a:lnTo>
                  <a:pt x="2882799" y="2882799"/>
                </a:lnTo>
                <a:lnTo>
                  <a:pt x="2882799" y="0"/>
                </a:lnTo>
                <a:lnTo>
                  <a:pt x="0" y="0"/>
                </a:lnTo>
                <a:lnTo>
                  <a:pt x="0" y="28827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709513" y="-10386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971772" y="4010939"/>
            <a:ext cx="9022971" cy="4415504"/>
          </a:xfrm>
          <a:custGeom>
            <a:avLst/>
            <a:gdLst/>
            <a:ahLst/>
            <a:cxnLst/>
            <a:rect r="r" b="b" t="t" l="l"/>
            <a:pathLst>
              <a:path h="4415504" w="9022971">
                <a:moveTo>
                  <a:pt x="0" y="0"/>
                </a:moveTo>
                <a:lnTo>
                  <a:pt x="9022971" y="0"/>
                </a:lnTo>
                <a:lnTo>
                  <a:pt x="9022971" y="4415504"/>
                </a:lnTo>
                <a:lnTo>
                  <a:pt x="0" y="44155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482" r="0" b="-1046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57400" y="1062037"/>
            <a:ext cx="12505642" cy="198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22"/>
              </a:lnSpc>
            </a:pPr>
            <a:r>
              <a:rPr lang="en-US" sz="4352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4.     FIND PRODUCTS THAT HAVE HIGHER-TH</a:t>
            </a:r>
            <a:r>
              <a:rPr lang="en-US" sz="4352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AN-AVERAGE PRICES WITHIN THEIR CATEGORY, ALONG WITH THEIR DISCOUNT AND SUPPLIER.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425139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28007" y="3766939"/>
            <a:ext cx="11079967" cy="4810523"/>
          </a:xfrm>
          <a:custGeom>
            <a:avLst/>
            <a:gdLst/>
            <a:ahLst/>
            <a:cxnLst/>
            <a:rect r="r" b="b" t="t" l="l"/>
            <a:pathLst>
              <a:path h="4810523" w="11079967">
                <a:moveTo>
                  <a:pt x="0" y="0"/>
                </a:moveTo>
                <a:lnTo>
                  <a:pt x="11079967" y="0"/>
                </a:lnTo>
                <a:lnTo>
                  <a:pt x="11079967" y="4810522"/>
                </a:lnTo>
                <a:lnTo>
                  <a:pt x="0" y="48105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6646" r="0" b="-1284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69480" y="727100"/>
            <a:ext cx="13327204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5.  QUERY TO FI</a:t>
            </a:r>
            <a:r>
              <a:rPr lang="en-US" sz="54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ND THE TOP 2 PRODUCTS WITH THE HIGHEST AVERAGE RATING IN EACH CATEGORY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17320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493371" y="3351022"/>
            <a:ext cx="11301259" cy="5155757"/>
          </a:xfrm>
          <a:custGeom>
            <a:avLst/>
            <a:gdLst/>
            <a:ahLst/>
            <a:cxnLst/>
            <a:rect r="r" b="b" t="t" l="l"/>
            <a:pathLst>
              <a:path h="5155757" w="11301259">
                <a:moveTo>
                  <a:pt x="0" y="0"/>
                </a:moveTo>
                <a:lnTo>
                  <a:pt x="11301258" y="0"/>
                </a:lnTo>
                <a:lnTo>
                  <a:pt x="11301258" y="5155757"/>
                </a:lnTo>
                <a:lnTo>
                  <a:pt x="0" y="51557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947" r="0" b="-1135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4425139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D4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6735" y="6747939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57400" y="1106995"/>
            <a:ext cx="13365422" cy="2015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38"/>
              </a:lnSpc>
              <a:spcBef>
                <a:spcPct val="0"/>
              </a:spcBef>
            </a:pPr>
            <a:r>
              <a:rPr lang="en-US" sz="5400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6.   ANALYSIS ACROSS ALL </a:t>
            </a:r>
            <a:r>
              <a:rPr lang="en-US" sz="5400" u="none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RETURN POLICY CATEGORIES(COUNT, AVGSTOCK, TOTAL STOCK, WEIGHTED_AVG_RATING, ETC)</a:t>
            </a:r>
          </a:p>
        </p:txBody>
      </p:sp>
      <p:sp>
        <p:nvSpPr>
          <p:cNvPr name="Freeform 4" id="4"/>
          <p:cNvSpPr/>
          <p:nvPr/>
        </p:nvSpPr>
        <p:spPr>
          <a:xfrm flipH="true" flipV="true" rot="0">
            <a:off x="14425139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42627" y="3851434"/>
            <a:ext cx="9402746" cy="4378166"/>
          </a:xfrm>
          <a:custGeom>
            <a:avLst/>
            <a:gdLst/>
            <a:ahLst/>
            <a:cxnLst/>
            <a:rect r="r" b="b" t="t" l="l"/>
            <a:pathLst>
              <a:path h="4378166" w="9402746">
                <a:moveTo>
                  <a:pt x="0" y="0"/>
                </a:moveTo>
                <a:lnTo>
                  <a:pt x="9402746" y="0"/>
                </a:lnTo>
                <a:lnTo>
                  <a:pt x="9402746" y="4378166"/>
                </a:lnTo>
                <a:lnTo>
                  <a:pt x="0" y="43781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3215" r="-35049" b="-3985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49463" y="628650"/>
            <a:ext cx="10933153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59"/>
              </a:lnSpc>
              <a:spcBef>
                <a:spcPct val="0"/>
              </a:spcBef>
            </a:pPr>
            <a:r>
              <a:rPr lang="en-US" sz="7299" u="sng">
                <a:solidFill>
                  <a:srgbClr val="1B319F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P</a:t>
            </a:r>
            <a:r>
              <a:rPr lang="en-US" sz="7299" u="sng">
                <a:solidFill>
                  <a:srgbClr val="1B319F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OWER BI VISUALIZATION :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0">
            <a:off x="12337292" y="-876300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26735" y="6747939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12125" y="2819440"/>
            <a:ext cx="9928086" cy="4831210"/>
          </a:xfrm>
          <a:custGeom>
            <a:avLst/>
            <a:gdLst/>
            <a:ahLst/>
            <a:cxnLst/>
            <a:rect r="r" b="b" t="t" l="l"/>
            <a:pathLst>
              <a:path h="4831210" w="9928086">
                <a:moveTo>
                  <a:pt x="0" y="0"/>
                </a:moveTo>
                <a:lnTo>
                  <a:pt x="9928085" y="0"/>
                </a:lnTo>
                <a:lnTo>
                  <a:pt x="9928085" y="4831210"/>
                </a:lnTo>
                <a:lnTo>
                  <a:pt x="0" y="48312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225" t="-17685" r="-8606" b="-1389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2184892" y="-1028700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173200" y="628709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53931" y="-142875"/>
            <a:ext cx="9580918" cy="123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33"/>
              </a:lnSpc>
              <a:spcBef>
                <a:spcPct val="0"/>
              </a:spcBef>
            </a:pPr>
            <a:r>
              <a:rPr lang="en-US" sz="7237" u="sng">
                <a:solidFill>
                  <a:srgbClr val="1B319F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 </a:t>
            </a:r>
            <a:r>
              <a:rPr lang="en-US" b="true" sz="7237" u="sng">
                <a:solidFill>
                  <a:srgbClr val="1B319F"/>
                </a:solidFill>
                <a:latin typeface="Dynapuff Condensed Bold"/>
                <a:ea typeface="Dynapuff Condensed Bold"/>
                <a:cs typeface="Dynapuff Condensed Bold"/>
                <a:sym typeface="Dynapuff Condensed Bold"/>
              </a:rPr>
              <a:t>Conclusion: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5099" y="1194906"/>
            <a:ext cx="17004201" cy="722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8"/>
              </a:lnSpc>
            </a:pPr>
          </a:p>
          <a:p>
            <a:pPr algn="just">
              <a:lnSpc>
                <a:spcPts val="4368"/>
              </a:lnSpc>
            </a:pPr>
            <a:r>
              <a:rPr lang="en-US" sz="312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  <a:r>
              <a:rPr lang="en-US" sz="312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SQL QUERIES:</a:t>
            </a:r>
          </a:p>
          <a:p>
            <a:pPr algn="just">
              <a:lnSpc>
                <a:spcPts val="2908"/>
              </a:lnSpc>
            </a:pPr>
          </a:p>
          <a:p>
            <a:pPr algn="just" marL="571325" indent="-285662" lvl="1">
              <a:lnSpc>
                <a:spcPts val="3704"/>
              </a:lnSpc>
              <a:buAutoNum type="arabicPeriod" startAt="1"/>
            </a:pPr>
            <a:r>
              <a:rPr lang="en-US" b="true" sz="264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High-Priced Products Identified</a:t>
            </a:r>
          </a:p>
          <a:p>
            <a:pPr algn="just">
              <a:lnSpc>
                <a:spcPts val="3704"/>
              </a:lnSpc>
            </a:pPr>
            <a:r>
              <a:rPr lang="en-US" sz="264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   Products priced above their category average were flagged for pricing strategy review.</a:t>
            </a:r>
          </a:p>
          <a:p>
            <a:pPr algn="just">
              <a:lnSpc>
                <a:spcPts val="3704"/>
              </a:lnSpc>
            </a:pPr>
            <a:r>
              <a:rPr lang="en-US" sz="264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2.  </a:t>
            </a:r>
            <a:r>
              <a:rPr lang="en-US" sz="264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Top-Rated Products by Category</a:t>
            </a:r>
          </a:p>
          <a:p>
            <a:pPr algn="just">
              <a:lnSpc>
                <a:spcPts val="3704"/>
              </a:lnSpc>
            </a:pPr>
            <a:r>
              <a:rPr lang="en-US" sz="264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   </a:t>
            </a:r>
            <a:r>
              <a:rPr lang="en-US" sz="264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Using window functions, top 2 products with the highest average ratings in each category were identified.</a:t>
            </a:r>
          </a:p>
          <a:p>
            <a:pPr algn="just">
              <a:lnSpc>
                <a:spcPts val="3704"/>
              </a:lnSpc>
            </a:pPr>
            <a:r>
              <a:rPr lang="en-US" sz="264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3.    </a:t>
            </a:r>
            <a:r>
              <a:rPr lang="en-US" sz="264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Most Reviewed Products per Warehouse</a:t>
            </a:r>
          </a:p>
          <a:p>
            <a:pPr algn="just">
              <a:lnSpc>
                <a:spcPts val="3704"/>
              </a:lnSpc>
            </a:pPr>
            <a:r>
              <a:rPr lang="en-US" b="true" sz="264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    </a:t>
            </a:r>
            <a:r>
              <a:rPr lang="en-US" b="true" sz="264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Helped highlight pr</a:t>
            </a:r>
            <a:r>
              <a:rPr lang="en-US" b="true" sz="264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oducts with the most customer engagement per warehouse.</a:t>
            </a:r>
          </a:p>
          <a:p>
            <a:pPr algn="just">
              <a:lnSpc>
                <a:spcPts val="3704"/>
              </a:lnSpc>
            </a:pPr>
            <a:r>
              <a:rPr lang="en-US" b="true" sz="264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4.    </a:t>
            </a:r>
            <a:r>
              <a:rPr lang="en-US" b="true" sz="264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Return Policy Analysis</a:t>
            </a:r>
          </a:p>
          <a:p>
            <a:pPr algn="just">
              <a:lnSpc>
                <a:spcPts val="3704"/>
              </a:lnSpc>
            </a:pPr>
            <a:r>
              <a:rPr lang="en-US" b="true" sz="264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    </a:t>
            </a:r>
            <a:r>
              <a:rPr lang="en-US" b="true" sz="264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7-day and 15-day policies had the highest product counts and varying stock &amp; rating performance.</a:t>
            </a:r>
          </a:p>
          <a:p>
            <a:pPr algn="just">
              <a:lnSpc>
                <a:spcPts val="3704"/>
              </a:lnSpc>
            </a:pPr>
            <a:r>
              <a:rPr lang="en-US" b="true" sz="264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5.    </a:t>
            </a:r>
            <a:r>
              <a:rPr lang="en-US" b="true" sz="264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Supplier and Discount Insights</a:t>
            </a:r>
          </a:p>
          <a:p>
            <a:pPr algn="just">
              <a:lnSpc>
                <a:spcPts val="3704"/>
              </a:lnSpc>
            </a:pPr>
            <a:r>
              <a:rPr lang="en-US" b="true" sz="264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    High-priced products were analyzed with supplier and discount details for profitability checks.</a:t>
            </a:r>
          </a:p>
          <a:p>
            <a:pPr algn="just">
              <a:lnSpc>
                <a:spcPts val="290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2184892" y="-1028700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6103108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103108" y="0"/>
                </a:lnTo>
                <a:lnTo>
                  <a:pt x="6103108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173200" y="628709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53931" y="-142875"/>
            <a:ext cx="9580918" cy="123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33"/>
              </a:lnSpc>
              <a:spcBef>
                <a:spcPct val="0"/>
              </a:spcBef>
            </a:pPr>
            <a:r>
              <a:rPr lang="en-US" sz="7237" u="sng">
                <a:solidFill>
                  <a:srgbClr val="1B319F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 </a:t>
            </a:r>
            <a:r>
              <a:rPr lang="en-US" b="true" sz="7237" u="sng">
                <a:solidFill>
                  <a:srgbClr val="1B319F"/>
                </a:solidFill>
                <a:latin typeface="Dynapuff Condensed Bold"/>
                <a:ea typeface="Dynapuff Condensed Bold"/>
                <a:cs typeface="Dynapuff Condensed Bold"/>
                <a:sym typeface="Dynapuff Condensed Bold"/>
              </a:rPr>
              <a:t>Conclusion: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1329" y="1500835"/>
            <a:ext cx="17302965" cy="6844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9"/>
              </a:lnSpc>
            </a:pPr>
          </a:p>
          <a:p>
            <a:pPr algn="just">
              <a:lnSpc>
                <a:spcPts val="4679"/>
              </a:lnSpc>
            </a:pPr>
            <a:r>
              <a:rPr lang="en-US" sz="334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POWER</a:t>
            </a:r>
            <a:r>
              <a:rPr lang="en-US" sz="334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BI R</a:t>
            </a:r>
            <a:r>
              <a:rPr lang="en-US" sz="3342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EPORT:</a:t>
            </a:r>
          </a:p>
          <a:p>
            <a:pPr algn="just">
              <a:lnSpc>
                <a:spcPts val="4961"/>
              </a:lnSpc>
            </a:pPr>
          </a:p>
          <a:p>
            <a:pPr algn="just" marL="516842" indent="-258421" lvl="1">
              <a:lnSpc>
                <a:spcPts val="3351"/>
              </a:lnSpc>
              <a:buAutoNum type="arabicPeriod" startAt="1"/>
            </a:pPr>
            <a:r>
              <a:rPr lang="en-US" b="true" sz="239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Revenue </a:t>
            </a:r>
            <a:r>
              <a:rPr lang="en-US" b="true" sz="239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Highlights</a:t>
            </a:r>
          </a:p>
          <a:p>
            <a:pPr algn="just">
              <a:lnSpc>
                <a:spcPts val="3351"/>
              </a:lnSpc>
            </a:pPr>
            <a:r>
              <a:rPr lang="en-US" sz="2393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  Clothing and Home were top revenue-generating categories</a:t>
            </a:r>
            <a:r>
              <a:rPr lang="en-US" sz="2393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 W</a:t>
            </a:r>
            <a:r>
              <a:rPr lang="en-US" sz="2393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arehouse</a:t>
            </a:r>
            <a:r>
              <a:rPr lang="en-US" sz="2393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C ha</a:t>
            </a:r>
            <a:r>
              <a:rPr lang="en-US" sz="2393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 the highest turnover.</a:t>
            </a:r>
          </a:p>
          <a:p>
            <a:pPr algn="just">
              <a:lnSpc>
                <a:spcPts val="3351"/>
              </a:lnSpc>
            </a:pPr>
            <a:r>
              <a:rPr lang="en-US" sz="2393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2.</a:t>
            </a:r>
            <a:r>
              <a:rPr lang="en-US" sz="2393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</a:t>
            </a:r>
            <a:r>
              <a:rPr lang="en-US" sz="2393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Customer Sentiment</a:t>
            </a:r>
          </a:p>
          <a:p>
            <a:pPr algn="just">
              <a:lnSpc>
                <a:spcPts val="3351"/>
              </a:lnSpc>
            </a:pPr>
            <a:r>
              <a:rPr lang="en-US" b="true" sz="239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 </a:t>
            </a:r>
            <a:r>
              <a:rPr lang="en-US" b="true" sz="239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Visuals sh</a:t>
            </a:r>
            <a:r>
              <a:rPr lang="en-US" b="true" sz="239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owed no direct correlation between higher pri</a:t>
            </a:r>
            <a:r>
              <a:rPr lang="en-US" b="true" sz="239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ce and better ratings.</a:t>
            </a:r>
          </a:p>
          <a:p>
            <a:pPr algn="just">
              <a:lnSpc>
                <a:spcPts val="3351"/>
              </a:lnSpc>
            </a:pPr>
            <a:r>
              <a:rPr lang="en-US" b="true" sz="239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3.    </a:t>
            </a:r>
            <a:r>
              <a:rPr lang="en-US" b="true" sz="239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Return Policy Trends</a:t>
            </a:r>
          </a:p>
          <a:p>
            <a:pPr algn="just">
              <a:lnSpc>
                <a:spcPts val="3351"/>
              </a:lnSpc>
            </a:pPr>
            <a:r>
              <a:rPr lang="en-US" b="true" sz="239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    Warehouse-wise and return policy-wise returns were clearly mapped. 7-day policy saw the highest return   counts.  </a:t>
            </a:r>
          </a:p>
          <a:p>
            <a:pPr algn="just">
              <a:lnSpc>
                <a:spcPts val="3351"/>
              </a:lnSpc>
            </a:pPr>
            <a:r>
              <a:rPr lang="en-US" b="true" sz="239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4.    </a:t>
            </a:r>
            <a:r>
              <a:rPr lang="en-US" b="true" sz="239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Sales vs Return Matrix</a:t>
            </a:r>
          </a:p>
          <a:p>
            <a:pPr algn="just">
              <a:lnSpc>
                <a:spcPts val="3351"/>
              </a:lnSpc>
            </a:pPr>
            <a:r>
              <a:rPr lang="en-US" b="true" sz="239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  </a:t>
            </a:r>
            <a:r>
              <a:rPr lang="en-US" b="true" sz="239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Helped compare</a:t>
            </a:r>
            <a:r>
              <a:rPr lang="en-US" b="true" sz="239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total sales under each ret</a:t>
            </a:r>
            <a:r>
              <a:rPr lang="en-US" b="true" sz="239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urn policy across warehouses—Warehouse C consistently led.</a:t>
            </a:r>
          </a:p>
          <a:p>
            <a:pPr algn="just">
              <a:lnSpc>
                <a:spcPts val="3351"/>
              </a:lnSpc>
            </a:pPr>
            <a:r>
              <a:rPr lang="en-US" b="true" sz="239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5.    </a:t>
            </a:r>
            <a:r>
              <a:rPr lang="en-US" b="true" sz="239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Interactive Filtering &amp; Visual Correlation</a:t>
            </a:r>
          </a:p>
          <a:p>
            <a:pPr algn="just">
              <a:lnSpc>
                <a:spcPts val="3351"/>
              </a:lnSpc>
            </a:pPr>
            <a:r>
              <a:rPr lang="en-US" b="true" sz="2393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   Dashboards enabled dynamic insights by category, warehouse, and return policy.</a:t>
            </a:r>
          </a:p>
          <a:p>
            <a:pPr algn="just">
              <a:lnSpc>
                <a:spcPts val="2466"/>
              </a:lnSpc>
            </a:pPr>
          </a:p>
          <a:p>
            <a:pPr algn="just">
              <a:lnSpc>
                <a:spcPts val="250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F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254823" y="-455023"/>
            <a:ext cx="5040401" cy="4114800"/>
          </a:xfrm>
          <a:custGeom>
            <a:avLst/>
            <a:gdLst/>
            <a:ahLst/>
            <a:cxnLst/>
            <a:rect r="r" b="b" t="t" l="l"/>
            <a:pathLst>
              <a:path h="4114800" w="5040401">
                <a:moveTo>
                  <a:pt x="0" y="0"/>
                </a:moveTo>
                <a:lnTo>
                  <a:pt x="5040401" y="0"/>
                </a:lnTo>
                <a:lnTo>
                  <a:pt x="50404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73816" y="3975664"/>
            <a:ext cx="8688208" cy="3601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373"/>
              </a:lnSpc>
            </a:pPr>
            <a:r>
              <a:rPr lang="en-US" sz="16716" spc="501">
                <a:solidFill>
                  <a:srgbClr val="000000"/>
                </a:solidFill>
                <a:latin typeface="Dynapuff Condensed"/>
                <a:ea typeface="Dynapuff Condensed"/>
                <a:cs typeface="Dynapuff Condensed"/>
                <a:sym typeface="Dynapuff Condensed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0" y="0"/>
            <a:ext cx="3489243" cy="3489243"/>
          </a:xfrm>
          <a:custGeom>
            <a:avLst/>
            <a:gdLst/>
            <a:ahLst/>
            <a:cxnLst/>
            <a:rect r="r" b="b" t="t" l="l"/>
            <a:pathLst>
              <a:path h="3489243" w="3489243">
                <a:moveTo>
                  <a:pt x="0" y="3489243"/>
                </a:moveTo>
                <a:lnTo>
                  <a:pt x="3489243" y="3489243"/>
                </a:lnTo>
                <a:lnTo>
                  <a:pt x="3489243" y="0"/>
                </a:lnTo>
                <a:lnTo>
                  <a:pt x="0" y="0"/>
                </a:lnTo>
                <a:lnTo>
                  <a:pt x="0" y="348924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6172200"/>
            <a:ext cx="6103108" cy="4114800"/>
          </a:xfrm>
          <a:custGeom>
            <a:avLst/>
            <a:gdLst/>
            <a:ahLst/>
            <a:cxnLst/>
            <a:rect r="r" b="b" t="t" l="l"/>
            <a:pathLst>
              <a:path h="4114800" w="6103108">
                <a:moveTo>
                  <a:pt x="0" y="0"/>
                </a:moveTo>
                <a:lnTo>
                  <a:pt x="6103108" y="0"/>
                </a:lnTo>
                <a:lnTo>
                  <a:pt x="61031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173200" y="628709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6043612"/>
            <a:ext cx="2369825" cy="2300885"/>
          </a:xfrm>
          <a:custGeom>
            <a:avLst/>
            <a:gdLst/>
            <a:ahLst/>
            <a:cxnLst/>
            <a:rect r="r" b="b" t="t" l="l"/>
            <a:pathLst>
              <a:path h="2300885" w="2369825">
                <a:moveTo>
                  <a:pt x="0" y="0"/>
                </a:moveTo>
                <a:lnTo>
                  <a:pt x="2369825" y="0"/>
                </a:lnTo>
                <a:lnTo>
                  <a:pt x="2369825" y="2300885"/>
                </a:lnTo>
                <a:lnTo>
                  <a:pt x="0" y="23008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DAGvROJ8y7g</dc:identifier>
  <dcterms:modified xsi:type="dcterms:W3CDTF">2011-08-01T06:04:30Z</dcterms:modified>
  <cp:revision>1</cp:revision>
  <dc:title>Cream and  Dark Brown Aesthetic Abstract Corner Project Presentation</dc:title>
</cp:coreProperties>
</file>